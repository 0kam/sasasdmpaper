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98C76-AE5A-1648-B3FF-24AD244EBD2F}" v="41" dt="2025-10-07T02:03:01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719"/>
  </p:normalViewPr>
  <p:slideViewPr>
    <p:cSldViewPr snapToGrid="0">
      <p:cViewPr varScale="1">
        <p:scale>
          <a:sx n="138" d="100"/>
          <a:sy n="138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B4145-50B1-3744-A820-88DAC0968449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9C247-62A3-D647-929A-9675AD406D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1410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9C247-62A3-D647-929A-9675AD406DD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5281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DE9DFB-5104-B432-D054-565353BA6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7ED5FCC-A962-7603-E2AD-3E36ABCD1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52FBEF-35A8-988E-A4B8-A09756D6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ECBFAF-8890-7D63-9692-120B18DD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FFD21E-94A8-59C9-36A0-4C12053D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373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CB020B-68A5-CF74-5CEF-A7B802E0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EBA9AF-7A38-520E-E02D-1A0F1370A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628A2E-8166-4A02-258C-3CB25AEB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0ED92B-0279-6211-3503-B1827583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245DB8-1F1B-91D3-5C64-E8AC93A1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0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A0830D-7ABA-5C47-8D54-4D9A414B2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250170-6EAE-22F9-5BF2-21B780124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40A86E-F863-70DB-1960-16F46238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0A0032-BEDA-B10A-5819-748548BD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ADCAC3-74DA-BB4E-0549-C7D96019F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33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481856-5CB4-F23D-515A-FF2980A46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3795D5-CBA6-4E5C-F44A-734E0B5C8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8D05EDF-49B6-9A28-A543-5DEB26B80F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F5FF41-E90C-B05C-B7F7-8C82A6FDA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34F643-25F6-4C50-EF66-8A134936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FD7E24-3C42-4963-657A-DE3E5793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333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7AEC56-F066-BA00-F257-1BC10D0F0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F0B65A-E821-1349-8E61-D90C9AF1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6B8C72-3354-CC9C-C0C1-AFDC3CF5D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BEDBDEF-BAEC-7FE5-12D7-52F6BA563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1CE6AD9-F8DE-093F-3279-5B4A52A06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E942E9E-4B74-EBF7-8299-A5903F2DD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800DCDD-205A-00AF-65BB-1FFB05F2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5E557A0-CAC6-595A-E7AC-D5272FD3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130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E20FE-C173-91D3-A18D-61CABC117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256BAB-7787-3E0B-E6C7-5DB90A75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C45BCB2-1C6A-F87A-978F-58E60F4B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539616-7D81-18F3-AE47-17F8B948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47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C0BCEEC-A76D-0395-206F-63DB7F85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C32F1D4-34AB-C449-0540-1C7504764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6F318A-114A-0241-B3B3-F7CD528A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19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AAFF28-20D4-F87A-7271-547AFEA8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7E0125-0BE0-1470-2A5C-8C59D5BD1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B290CB8-D368-3537-55EC-0EC065171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DC47693-C816-1B0B-6836-848F74199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58B172-B874-A673-601C-6709A204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D52B04-4146-6148-0273-DFBBB15A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72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811A25-D2D7-7FFD-E68F-78CCFEC3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371FCBF-E1FC-1DC8-C784-D894EA7E1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B6B1C4-7115-50E5-72D4-244F18142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9B2E18-BCAD-5FB8-458D-E39C234F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20BCBA-FFE6-9766-C49D-9AA069E4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E2B8BF-2C21-949E-575F-AEA0ADD9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620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F24456-B52F-B8AD-DA87-B46E4E68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5D5BDD-A7FD-4655-7651-7B012FBF2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3D444B-083E-47D2-701B-74733B69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595BF0-BAFE-5644-EFB8-896A8598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5056F1-9740-8176-F27C-403EC518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46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7A42CE0-F85A-DE19-C2E3-F5FF4DDCF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AC74D7-F403-42B0-77C0-B4D731BBD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6EAA2-792E-F8E2-8489-338BCF7ED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34FD9-597E-70A0-2C27-A31554FD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FE1E32-E4CA-0530-B8E2-09892BF1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039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CA3383E-DEC3-A925-58FC-D89F6F0B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2BF822-7642-27D3-7D53-A5A7E0EC3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BAE923-FB69-B06C-A7DD-AF343B917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822D9C-B7B0-9348-823A-C551A77A0D1B}" type="datetimeFigureOut">
              <a:rPr kumimoji="1" lang="ja-JP" altLang="en-US" smtClean="0"/>
              <a:t>2026/8/29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F3D769-CADD-BC66-F0A1-15A604BD6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BE5254-49FA-5F75-88F3-0A5E56E23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5A03C-7A5C-D843-AAA2-B208AE9B3C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50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anel d plate"/>
          <p:cNvSpPr/>
          <p:nvPr/>
        </p:nvSpPr>
        <p:spPr>
          <a:xfrm>
            <a:off x="8168000" y="2680000"/>
            <a:ext cx="3924000" cy="41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103" name="panel c plate"/>
          <p:cNvSpPr/>
          <p:nvPr/>
        </p:nvSpPr>
        <p:spPr>
          <a:xfrm>
            <a:off x="4134000" y="2680000"/>
            <a:ext cx="3924000" cy="41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102" name="panel b plate"/>
          <p:cNvSpPr/>
          <p:nvPr/>
        </p:nvSpPr>
        <p:spPr>
          <a:xfrm>
            <a:off x="100000" y="2680000"/>
            <a:ext cx="3924000" cy="41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101" name="panel a plate"/>
          <p:cNvSpPr/>
          <p:nvPr/>
        </p:nvSpPr>
        <p:spPr>
          <a:xfrm>
            <a:off x="100000" y="80000"/>
            <a:ext cx="11992000" cy="24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 </a:t>
            </a:r>
          </a:p>
        </p:txBody>
      </p:sp>
      <p:pic>
        <p:nvPicPr>
          <p:cNvPr id="10" name="図 9" descr="表示, コンピュータ が含まれている画像&#10;&#10;AI 生成コンテンツは誤りを含む可能性があります。">
            <a:extLst>
              <a:ext uri="{FF2B5EF4-FFF2-40B4-BE49-F238E27FC236}">
                <a16:creationId id="{A4AF107F-435E-651D-2015-B48C70ECC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143" y="1670000"/>
            <a:ext cx="1285715" cy="750000"/>
          </a:xfrm>
          <a:prstGeom prst="rect">
            <a:avLst/>
          </a:prstGeom>
        </p:spPr>
      </p:pic>
      <p:pic>
        <p:nvPicPr>
          <p:cNvPr id="12" name="図 11" descr="グラフィカル ユーザー インターフェイス, マップ&#10;&#10;AI 生成コンテンツは誤りを含む可能性があります。">
            <a:extLst>
              <a:ext uri="{FF2B5EF4-FFF2-40B4-BE49-F238E27FC236}">
                <a16:creationId id="{E9DB887B-7B6C-696B-7FA7-A3619C8B8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653" y="500000"/>
            <a:ext cx="2010695" cy="750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id="{BD33DA69-CA67-A288-C086-4E0A04ABD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00" y="560000"/>
            <a:ext cx="2400000" cy="1376471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id="{0559DB6B-188B-4E6C-F875-E9BBEE511C2F}"/>
              </a:ext>
            </a:extLst>
          </p:cNvPr>
          <p:cNvSpPr/>
          <p:nvPr/>
        </p:nvSpPr>
        <p:spPr>
          <a:xfrm>
            <a:off x="7700000" y="1000000"/>
            <a:ext cx="4100000" cy="80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 b="1">
                <a:solidFill>
                  <a:sysClr val="windowText" lastClr="000000"/>
                </a:solidFill>
              </a:rPr>
              <a:t>Terrain (DEM)</a:t>
            </a:r>
          </a:p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elevation, slope, TPI, TWI, aspect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id="{298742F6-DD91-A47F-425B-8CBD0F1D697D}"/>
              </a:ext>
            </a:extLst>
          </p:cNvPr>
          <p:cNvSpPr/>
          <p:nvPr/>
        </p:nvSpPr>
        <p:spPr>
          <a:xfrm>
            <a:off x="250000" y="3660000"/>
            <a:ext cx="3624000" cy="7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 b="1">
                <a:solidFill>
                  <a:sysClr val="windowText" lastClr="000000"/>
                </a:solidFill>
              </a:rPr>
              <a:t>Model A: habitat suitability</a:t>
            </a:r>
          </a:p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environmental potential (seed layer)</a:t>
            </a:r>
          </a:p>
        </p:txBody>
      </p:sp>
      <p:sp>
        <p:nvSpPr>
          <p:cNvPr id="43" name="右矢印 42">
            <a:extLst>
              <a:ext uri="{FF2B5EF4-FFF2-40B4-BE49-F238E27FC236}">
                <a16:creationId id="{7C139470-B27F-F414-64CE-D928A0D72E6C}"/>
              </a:ext>
            </a:extLst>
          </p:cNvPr>
          <p:cNvSpPr/>
          <p:nvPr/>
        </p:nvSpPr>
        <p:spPr>
          <a:xfrm>
            <a:off x="3200000" y="1108235"/>
            <a:ext cx="1400000" cy="280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8" name="図 47" descr="ダイアグラム&#10;&#10;AI 生成コンテンツは誤りを含む可能性があります。">
            <a:extLst>
              <a:ext uri="{FF2B5EF4-FFF2-40B4-BE49-F238E27FC236}">
                <a16:creationId id="{912377C4-7923-B412-53A3-FF956D9ED6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6380" y="4670000"/>
            <a:ext cx="1907241" cy="1770000"/>
          </a:xfrm>
          <a:prstGeom prst="rect">
            <a:avLst/>
          </a:prstGeom>
        </p:spPr>
      </p:pic>
      <p:sp>
        <p:nvSpPr>
          <p:cNvPr id="49" name="テキスト ボックス 48">
            <a:extLst>
              <a:ext uri="{FF2B5EF4-FFF2-40B4-BE49-F238E27FC236}">
                <a16:creationId id="{436925D4-FA02-0292-09A7-D3F529470588}"/>
              </a:ext>
            </a:extLst>
          </p:cNvPr>
          <p:cNvSpPr txBox="1"/>
          <p:nvPr/>
        </p:nvSpPr>
        <p:spPr>
          <a:xfrm>
            <a:off x="8318000" y="6460000"/>
            <a:ext cx="3624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P(established by 2030), s = 0</a:t>
            </a:r>
          </a:p>
        </p:txBody>
      </p:sp>
      <p:sp>
        <p:nvSpPr>
          <p:cNvPr id="105" name="panel tag a"/>
          <p:cNvSpPr/>
          <p:nvPr/>
        </p:nvSpPr>
        <p:spPr>
          <a:xfrm>
            <a:off x="170000" y="120000"/>
            <a:ext cx="950000" cy="4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en-US" altLang="ja-JP" sz="2400" dirty="0" b="1">
                <a:solidFill>
                  <a:sysClr val="windowText" lastClr="000000"/>
                </a:solidFill>
              </a:rPr>
              <a:t>(a)</a:t>
            </a:r>
          </a:p>
        </p:txBody>
      </p:sp>
      <p:sp>
        <p:nvSpPr>
          <p:cNvPr id="106" name="panel tag b"/>
          <p:cNvSpPr/>
          <p:nvPr/>
        </p:nvSpPr>
        <p:spPr>
          <a:xfrm>
            <a:off x="170000" y="2720000"/>
            <a:ext cx="950000" cy="4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en-US" altLang="ja-JP" sz="2400" dirty="0" b="1">
                <a:solidFill>
                  <a:sysClr val="windowText" lastClr="000000"/>
                </a:solidFill>
              </a:rPr>
              <a:t>(b)</a:t>
            </a:r>
          </a:p>
        </p:txBody>
      </p:sp>
      <p:sp>
        <p:nvSpPr>
          <p:cNvPr id="107" name="panel tag c"/>
          <p:cNvSpPr/>
          <p:nvPr/>
        </p:nvSpPr>
        <p:spPr>
          <a:xfrm>
            <a:off x="4204000" y="2720000"/>
            <a:ext cx="950000" cy="4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en-US" altLang="ja-JP" sz="2400" dirty="0" b="1">
                <a:solidFill>
                  <a:sysClr val="windowText" lastClr="000000"/>
                </a:solidFill>
              </a:rPr>
              <a:t>(c)</a:t>
            </a:r>
          </a:p>
        </p:txBody>
      </p:sp>
      <p:sp>
        <p:nvSpPr>
          <p:cNvPr id="108" name="panel tag d"/>
          <p:cNvSpPr/>
          <p:nvPr/>
        </p:nvSpPr>
        <p:spPr>
          <a:xfrm>
            <a:off x="8238000" y="2720000"/>
            <a:ext cx="950000" cy="4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en-US" altLang="ja-JP" sz="2400" dirty="0" b="1">
                <a:solidFill>
                  <a:sysClr val="windowText" lastClr="000000"/>
                </a:solidFill>
              </a:rPr>
              <a:t>(d)</a:t>
            </a:r>
          </a:p>
        </p:txBody>
      </p:sp>
      <p:sp>
        <p:nvSpPr>
          <p:cNvPr id="109" name="a photo label"/>
          <p:cNvSpPr txBox="1"/>
          <p:nvPr/>
        </p:nvSpPr>
        <p:spPr>
          <a:xfrm>
            <a:off x="700000" y="140000"/>
            <a:ext cx="2400000" cy="3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Time-lapse imagery</a:t>
            </a:r>
          </a:p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(2011–2021)</a:t>
            </a:r>
          </a:p>
        </p:txBody>
      </p:sp>
      <p:sp>
        <p:nvSpPr>
          <p:cNvPr id="110" name="a process label"/>
          <p:cNvSpPr txBox="1"/>
          <p:nvPr/>
        </p:nvSpPr>
        <p:spPr>
          <a:xfrm>
            <a:off x="3200000" y="540000"/>
            <a:ext cx="1400000" cy="56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align,</a:t>
            </a:r>
          </a:p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classify,</a:t>
            </a:r>
          </a:p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geo-correct</a:t>
            </a:r>
          </a:p>
        </p:txBody>
      </p:sp>
      <p:sp>
        <p:nvSpPr>
          <p:cNvPr id="111" name="a veg label"/>
          <p:cNvSpPr txBox="1"/>
          <p:nvPr/>
        </p:nvSpPr>
        <p:spPr>
          <a:xfrm>
            <a:off x="4700000" y="140000"/>
            <a:ext cx="2600000" cy="3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Vegetation maps (2012, 2021)</a:t>
            </a:r>
          </a:p>
        </p:txBody>
      </p:sp>
      <p:sp>
        <p:nvSpPr>
          <p:cNvPr id="112" name="a snow label"/>
          <p:cNvSpPr txBox="1"/>
          <p:nvPr/>
        </p:nvSpPr>
        <p:spPr>
          <a:xfrm>
            <a:off x="4700000" y="1310000"/>
            <a:ext cx="2600000" cy="3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Snowmelt DOY (2011–2021)</a:t>
            </a:r>
          </a:p>
        </p:txBody>
      </p:sp>
      <p:sp>
        <p:nvSpPr>
          <p:cNvPr id="113" name="b input label"/>
          <p:cNvSpPr txBox="1"/>
          <p:nvPr/>
        </p:nvSpPr>
        <p:spPr>
          <a:xfrm>
            <a:off x="1180000" y="2720000"/>
            <a:ext cx="2694000" cy="6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2021 presence + environment</a:t>
            </a:r>
          </a:p>
        </p:txBody>
      </p:sp>
      <p:sp>
        <p:nvSpPr>
          <p:cNvPr id="114" name="b input arrow"/>
          <p:cNvSpPr/>
          <p:nvPr/>
        </p:nvSpPr>
        <p:spPr>
          <a:xfrm rot="5400000">
            <a:off x="1952000" y="3410000"/>
            <a:ext cx="220000" cy="240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b output arrow"/>
          <p:cNvSpPr/>
          <p:nvPr/>
        </p:nvSpPr>
        <p:spPr>
          <a:xfrm rot="5400000">
            <a:off x="1952000" y="4410000"/>
            <a:ext cx="220000" cy="240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6" name="b suitability thumbnai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380" y="4670000"/>
            <a:ext cx="1907241" cy="1770000"/>
          </a:xfrm>
          <a:prstGeom prst="rect">
            <a:avLst/>
          </a:prstGeom>
        </p:spPr>
      </p:pic>
      <p:sp>
        <p:nvSpPr>
          <p:cNvPr id="117" name="b caption"/>
          <p:cNvSpPr txBox="1"/>
          <p:nvPr/>
        </p:nvSpPr>
        <p:spPr>
          <a:xfrm>
            <a:off x="250000" y="6460000"/>
            <a:ext cx="3624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Habitat suitability surface</a:t>
            </a:r>
          </a:p>
        </p:txBody>
      </p:sp>
      <p:sp>
        <p:nvSpPr>
          <p:cNvPr id="118" name="c input label"/>
          <p:cNvSpPr txBox="1"/>
          <p:nvPr/>
        </p:nvSpPr>
        <p:spPr>
          <a:xfrm>
            <a:off x="5214000" y="2720000"/>
            <a:ext cx="2694000" cy="6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2012→2021 transitions + distance to front</a:t>
            </a:r>
          </a:p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+ environment</a:t>
            </a:r>
          </a:p>
        </p:txBody>
      </p:sp>
      <p:sp>
        <p:nvSpPr>
          <p:cNvPr id="119" name="c input arrow"/>
          <p:cNvSpPr/>
          <p:nvPr/>
        </p:nvSpPr>
        <p:spPr>
          <a:xfrm rot="5400000">
            <a:off x="5986000" y="3410000"/>
            <a:ext cx="220000" cy="240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c Model B box"/>
          <p:cNvSpPr/>
          <p:nvPr/>
        </p:nvSpPr>
        <p:spPr>
          <a:xfrm>
            <a:off x="4284000" y="3660000"/>
            <a:ext cx="3624000" cy="7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 b="1">
                <a:solidFill>
                  <a:sysClr val="windowText" lastClr="000000"/>
                </a:solidFill>
              </a:rPr>
              <a:t>Model B: establishment</a:t>
            </a:r>
          </a:p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front distance + environment (rhizome layer)</a:t>
            </a:r>
          </a:p>
        </p:txBody>
      </p:sp>
      <p:sp>
        <p:nvSpPr>
          <p:cNvPr id="121" name="c output arrow"/>
          <p:cNvSpPr/>
          <p:nvPr/>
        </p:nvSpPr>
        <p:spPr>
          <a:xfrm rot="5400000">
            <a:off x="5986000" y="4410000"/>
            <a:ext cx="220000" cy="240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2" name="c Model B schemati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1346" y="4670000"/>
            <a:ext cx="3469309" cy="1770000"/>
          </a:xfrm>
          <a:prstGeom prst="rect">
            <a:avLst/>
          </a:prstGeom>
        </p:spPr>
      </p:pic>
      <p:sp>
        <p:nvSpPr>
          <p:cNvPr id="123" name="c caption"/>
          <p:cNvSpPr txBox="1"/>
          <p:nvPr/>
        </p:nvSpPr>
        <p:spPr>
          <a:xfrm>
            <a:off x="4284000" y="6460000"/>
            <a:ext cx="3624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Establishment hugs the 2012 front</a:t>
            </a:r>
          </a:p>
        </p:txBody>
      </p:sp>
      <p:sp>
        <p:nvSpPr>
          <p:cNvPr id="124" name="d input label"/>
          <p:cNvSpPr txBox="1"/>
          <p:nvPr/>
        </p:nvSpPr>
        <p:spPr>
          <a:xfrm>
            <a:off x="9248000" y="2720000"/>
            <a:ext cx="850000" cy="6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Model B applied annually</a:t>
            </a:r>
          </a:p>
        </p:txBody>
      </p:sp>
      <p:sp>
        <p:nvSpPr>
          <p:cNvPr id="125" name="d scenarios box"/>
          <p:cNvSpPr/>
          <p:nvPr/>
        </p:nvSpPr>
        <p:spPr>
          <a:xfrm>
            <a:off x="10158000" y="2720000"/>
            <a:ext cx="1784000" cy="6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kumimoji="1" lang="en-US" altLang="ja-JP" sz="1400" dirty="0" b="1">
                <a:solidFill>
                  <a:sysClr val="windowText" lastClr="000000"/>
                </a:solidFill>
              </a:rPr>
              <a:t>Snowmelt scenarios</a:t>
            </a:r>
          </a:p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s = 0, −0.71, −2.24 days/year</a:t>
            </a:r>
          </a:p>
        </p:txBody>
      </p:sp>
      <p:sp>
        <p:nvSpPr>
          <p:cNvPr id="126" name="d model arrow"/>
          <p:cNvSpPr/>
          <p:nvPr/>
        </p:nvSpPr>
        <p:spPr>
          <a:xfrm rot="5400000">
            <a:off x="9563000" y="3410000"/>
            <a:ext cx="220000" cy="240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d scenario arrow"/>
          <p:cNvSpPr/>
          <p:nvPr/>
        </p:nvSpPr>
        <p:spPr>
          <a:xfrm rot="5400000">
            <a:off x="10940000" y="3410000"/>
            <a:ext cx="220000" cy="240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d projection box"/>
          <p:cNvSpPr/>
          <p:nvPr/>
        </p:nvSpPr>
        <p:spPr>
          <a:xfrm>
            <a:off x="8318000" y="3660000"/>
            <a:ext cx="3624000" cy="7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800" dirty="0" b="1">
                <a:solidFill>
                  <a:sysClr val="windowText" lastClr="000000"/>
                </a:solidFill>
              </a:rPr>
              <a:t>Projection: cellular automaton</a:t>
            </a:r>
          </a:p>
          <a:p>
            <a:pPr algn="ctr"/>
            <a:r>
              <a:rPr kumimoji="1" lang="en-US" altLang="ja-JP" sz="1400" dirty="0">
                <a:solidFill>
                  <a:sysClr val="windowText" lastClr="000000"/>
                </a:solidFill>
              </a:rPr>
              <a:t>annual establishment trial, 2022–2030</a:t>
            </a:r>
          </a:p>
        </p:txBody>
      </p:sp>
      <p:sp>
        <p:nvSpPr>
          <p:cNvPr id="129" name="d output arrow"/>
          <p:cNvSpPr/>
          <p:nvPr/>
        </p:nvSpPr>
        <p:spPr>
          <a:xfrm rot="5400000">
            <a:off x="10020000" y="4410000"/>
            <a:ext cx="220000" cy="240000"/>
          </a:xfrm>
          <a:prstGeom prst="rightArrow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val="374422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Arial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Arial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Arial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Arial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53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テーマ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岡本 遼太郎</dc:creator>
  <cp:lastModifiedBy>岡本 遼太郎</cp:lastModifiedBy>
  <cp:revision>2</cp:revision>
  <dcterms:created xsi:type="dcterms:W3CDTF">2025-10-07T00:13:23Z</dcterms:created>
  <dcterms:modified xsi:type="dcterms:W3CDTF">2026-08-30T01:00:29Z</dcterms:modified>
</cp:coreProperties>
</file>